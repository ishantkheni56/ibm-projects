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d87fd6148b94358" /><Relationship Type="http://schemas.openxmlformats.org/package/2006/relationships/metadata/core-properties" Target="/docProps/core.xml" Id="Re32344d1a4a04a3c" /><Relationship Type="http://schemas.openxmlformats.org/officeDocument/2006/relationships/extended-properties" Target="/docProps/app.xml" Id="R919b5d07980a4c7a" /><Relationship Type="http://schemas.openxmlformats.org/officeDocument/2006/relationships/custom-properties" Target="/docProps/custom.xml" Id="R775cafc1ec574b8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b309e27c15a4cb5"/>
  </p:notesMasterIdLst>
  <p:sldIdLst>
    <p:sldId id="256" r:id="R1df2e025099447af"/>
    <p:sldId id="257" r:id="R926a8fbc5a454ec1"/>
    <p:sldId id="258" r:id="R7f662b6ca5bf401c"/>
    <p:sldId id="259" r:id="R69daaa5ec32c441e"/>
    <p:sldId id="260" r:id="Ree70f4976f7f4f42"/>
    <p:sldId id="261" r:id="R48b77bfff1514d0a"/>
    <p:sldId id="262" r:id="R3b759dffe0aa4b2c"/>
    <p:sldId id="263" r:id="R74d6cca370ec4310"/>
    <p:sldId id="264" r:id="Rbbf10f5753ae4fe9"/>
    <p:sldId id="265" r:id="R1c6d15d9db5e4191"/>
    <p:sldId id="266" r:id="Ra28529131b7d42fa"/>
    <p:sldId id="267" r:id="R6923764369c54f4e"/>
    <p:sldId id="268" r:id="Rd90974d7def64a50"/>
    <p:sldId id="269" r:id="R2d3c241317b44537"/>
    <p:sldId id="270" r:id="R34d286c90289485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df2e025099447af" /><Relationship Type="http://schemas.openxmlformats.org/officeDocument/2006/relationships/notesMaster" Target="/ppt/notesMasters/notesMaster1.xml" Id="R9b309e27c15a4cb5" /><Relationship Type="http://schemas.openxmlformats.org/officeDocument/2006/relationships/slide" Target="/ppt/slides/slide2.xml" Id="R926a8fbc5a454ec1" /><Relationship Type="http://schemas.openxmlformats.org/officeDocument/2006/relationships/slide" Target="/ppt/slides/slide3.xml" Id="R7f662b6ca5bf401c" /><Relationship Type="http://schemas.openxmlformats.org/officeDocument/2006/relationships/slide" Target="/ppt/slides/slide4.xml" Id="R69daaa5ec32c441e" /><Relationship Type="http://schemas.openxmlformats.org/officeDocument/2006/relationships/slide" Target="/ppt/slides/slide5.xml" Id="Ree70f4976f7f4f42" /><Relationship Type="http://schemas.openxmlformats.org/officeDocument/2006/relationships/slide" Target="/ppt/slides/slide6.xml" Id="R48b77bfff1514d0a" /><Relationship Type="http://schemas.openxmlformats.org/officeDocument/2006/relationships/slide" Target="/ppt/slides/slide7.xml" Id="R3b759dffe0aa4b2c" /><Relationship Type="http://schemas.openxmlformats.org/officeDocument/2006/relationships/slide" Target="/ppt/slides/slide8.xml" Id="R74d6cca370ec4310" /><Relationship Type="http://schemas.openxmlformats.org/officeDocument/2006/relationships/slide" Target="/ppt/slides/slide9.xml" Id="Rbbf10f5753ae4fe9" /><Relationship Type="http://schemas.openxmlformats.org/officeDocument/2006/relationships/slide" Target="/ppt/slides/slide10.xml" Id="R1c6d15d9db5e4191" /><Relationship Type="http://schemas.openxmlformats.org/officeDocument/2006/relationships/slide" Target="/ppt/slides/slide11.xml" Id="Ra28529131b7d42fa" /><Relationship Type="http://schemas.openxmlformats.org/officeDocument/2006/relationships/slide" Target="/ppt/slides/slide12.xml" Id="R6923764369c54f4e" /><Relationship Type="http://schemas.openxmlformats.org/officeDocument/2006/relationships/slide" Target="/ppt/slides/slide13.xml" Id="Rd90974d7def64a50" /><Relationship Type="http://schemas.openxmlformats.org/officeDocument/2006/relationships/slide" Target="/ppt/slides/slide14.xml" Id="R2d3c241317b44537" /><Relationship Type="http://schemas.openxmlformats.org/officeDocument/2006/relationships/slide" Target="/ppt/slides/slide15.xml" Id="R34d286c9028948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425f7bef2ba4bc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f70e2428e524bea" /><Relationship Type="http://schemas.openxmlformats.org/officeDocument/2006/relationships/slide" Target="/ppt/slides/slide1.xml" Id="R839d078babf342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89ed1db2082413b" /><Relationship Type="http://schemas.openxmlformats.org/officeDocument/2006/relationships/slide" Target="/ppt/slides/slide2.xml" Id="Ra82aa5a077d648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0add882c22a4a04" /><Relationship Type="http://schemas.openxmlformats.org/officeDocument/2006/relationships/slide" Target="/ppt/slides/slide3.xml" Id="R292ce51e87e845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e22e608f641442d" /><Relationship Type="http://schemas.openxmlformats.org/officeDocument/2006/relationships/slide" Target="/ppt/slides/slide4.xml" Id="R93a2d72c9a094f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71b882aca1b4e4d" /><Relationship Type="http://schemas.openxmlformats.org/officeDocument/2006/relationships/slide" Target="/ppt/slides/slide5.xml" Id="Rb35851b6b22444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053b35bd0f845db" /><Relationship Type="http://schemas.openxmlformats.org/officeDocument/2006/relationships/slide" Target="/ppt/slides/slide6.xml" Id="Rbfee9f959e704f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e8dc86c149e4484" /><Relationship Type="http://schemas.openxmlformats.org/officeDocument/2006/relationships/slide" Target="/ppt/slides/slide7.xml" Id="R962508fda14a43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45ef1bdc18a492f" /><Relationship Type="http://schemas.openxmlformats.org/officeDocument/2006/relationships/slide" Target="/ppt/slides/slide8.xml" Id="Rbe7dd1f69c9048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0345439a21846e2" /><Relationship Type="http://schemas.openxmlformats.org/officeDocument/2006/relationships/slide" Target="/ppt/slides/slide9.xml" Id="Ref17efbf0ce94b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72aaf6a683c4175" /><Relationship Type="http://schemas.openxmlformats.org/officeDocument/2006/relationships/slide" Target="/ppt/slides/slide10.xml" Id="Raa14aa67833f46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b5b60f46d0a4a92" /><Relationship Type="http://schemas.openxmlformats.org/officeDocument/2006/relationships/slide" Target="/ppt/slides/slide11.xml" Id="Rbc06447c94ad41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06ac2a36bc04c59" /><Relationship Type="http://schemas.openxmlformats.org/officeDocument/2006/relationships/slide" Target="/ppt/slides/slide12.xml" Id="R941ce668755448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989c8b9147c4cb9" /><Relationship Type="http://schemas.openxmlformats.org/officeDocument/2006/relationships/slide" Target="/ppt/slides/slide13.xml" Id="R9b65c1db43ca4f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619fe822b234ebb" /><Relationship Type="http://schemas.openxmlformats.org/officeDocument/2006/relationships/slide" Target="/ppt/slides/slide14.xml" Id="R3830894efd2e43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029e8961555446a" /><Relationship Type="http://schemas.openxmlformats.org/officeDocument/2006/relationships/slide" Target="/ppt/slides/slide15.xml" Id="R29a2b67819c940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slide. NutriBot is a full-stack Agentic AI web application that generates personalised nutrition plans using IBM Granite LLM via watsonx.ai.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Nutrition guidance is a critical unmet need globally. IBM Granite LLM enables us to build a scalable, ethical, personalized solution.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NutriBot collects a comprehensive user profile and uses IBM Granite LLM to generate safe, personalized nutrition plans stored as markdown files.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IBM Granite 13B Instruct model is used via the watsonx.ai REST API. IAM token exchange handles authentication securely. The model receives rich structured prompts.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Six SDLC phases were followed: Requirements, Design, Development, Testing, Deployment, and Ethics Monitoring — a complete Agentic AI lifecycle.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agentic pipeline follows the Plan-Act-Observe-Reflect-Respond cycle. Each stage has clear responsibilities and guardrails.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NutriBot strictly follows IBM AI Ethics. HAM principles guide every response. Guardrails block 14 categories of harmful content. Complex medical conditions trigger mandatory professional referrals.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3-tier architecture: Browser SPA -&gt; Flask REST API -&gt; IBM watsonx.ai. The browser communicates via HTTP JSON. Flask orchestrates the agentic pipeline. IBM Granite LLM is the intelligence layer.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project is organized into clear layers: Flask app, agents (agentic logic), templates/static (frontend), and plans (output). Each module has a single responsibility.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Key features span from IBM Granite LLM integration to a responsive multi-step form, agentic chat, and automatic markdown export with medical disclaimers.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technology stack spans AI/LLM (IBM Granite, watsonx.ai), backend (Python/Flask), frontend (vanilla HTML/CSS/JS), and DevOps (Git/GitHub).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13 automated tests were written and all pass. 7 unit tests cover the guardrails module and 6 integration tests cover the Flask REST API endpoints.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deployment methods: one-click .bat, manual setup, or with IBM Granite live mode. The app works in demo mode without any cloud credentials.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comprehensive medical disclaimer is automatically appended to every generated plan. Responsible AI principles ensure no harmful medical claims are made.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Thank you. NutriBot demonstrates how IBM Granite LLM can be used to build ethical, agentic AI applications that solve real-world health challenges at scale.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773828a1e42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7d912524e47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397c097b342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54ce6ff1c4e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1830e213947c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f4be6d255374f1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5534c298043c9" /><Relationship Type="http://schemas.openxmlformats.org/officeDocument/2006/relationships/notesSlide" Target="/ppt/notesSlides/notesSlide1.xml" Id="R353b90abe1934a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36363d6ca4ef1" /><Relationship Type="http://schemas.openxmlformats.org/officeDocument/2006/relationships/notesSlide" Target="/ppt/notesSlides/notesSlide2.xml" Id="Rf0c49247fffc4c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cfae14880480c" /><Relationship Type="http://schemas.openxmlformats.org/officeDocument/2006/relationships/notesSlide" Target="/ppt/notesSlides/notesSlide3.xml" Id="R866df3fd25e14f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9a8a24e7d4892" /><Relationship Type="http://schemas.openxmlformats.org/officeDocument/2006/relationships/notesSlide" Target="/ppt/notesSlides/notesSlide4.xml" Id="R073d1b47e2d440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ae6d38ca242a5" /><Relationship Type="http://schemas.openxmlformats.org/officeDocument/2006/relationships/notesSlide" Target="/ppt/notesSlides/notesSlide5.xml" Id="R504a5d98706a40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74d0d938a49eb" /><Relationship Type="http://schemas.openxmlformats.org/officeDocument/2006/relationships/notesSlide" Target="/ppt/notesSlides/notesSlide6.xml" Id="Rfed741ff47d842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02200823448f0" /><Relationship Type="http://schemas.openxmlformats.org/officeDocument/2006/relationships/notesSlide" Target="/ppt/notesSlides/notesSlide7.xml" Id="Rad88674eadb44d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d3cc7ad6a4242" /><Relationship Type="http://schemas.openxmlformats.org/officeDocument/2006/relationships/notesSlide" Target="/ppt/notesSlides/notesSlide8.xml" Id="Rd36a718450af4c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3181535a94f70" /><Relationship Type="http://schemas.openxmlformats.org/officeDocument/2006/relationships/notesSlide" Target="/ppt/notesSlides/notesSlide9.xml" Id="R869135302f6447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217f4ac534bba" /><Relationship Type="http://schemas.openxmlformats.org/officeDocument/2006/relationships/notesSlide" Target="/ppt/notesSlides/notesSlide10.xml" Id="Rbc499fb1fa3148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5d526bc5c45ae" /><Relationship Type="http://schemas.openxmlformats.org/officeDocument/2006/relationships/notesSlide" Target="/ppt/notesSlides/notesSlide11.xml" Id="R79bc4e0c89e24e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5c8f31fbf4c27" /><Relationship Type="http://schemas.openxmlformats.org/officeDocument/2006/relationships/notesSlide" Target="/ppt/notesSlides/notesSlide12.xml" Id="R5e1b87d756c048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377d7528147da" /><Relationship Type="http://schemas.openxmlformats.org/officeDocument/2006/relationships/notesSlide" Target="/ppt/notesSlides/notesSlide13.xml" Id="R5d6c10c16c9748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1b5f7f5514d4f" /><Relationship Type="http://schemas.openxmlformats.org/officeDocument/2006/relationships/notesSlide" Target="/ppt/notesSlides/notesSlide14.xml" Id="R134fe5f310e944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63d6569b946ee" /><Relationship Type="http://schemas.openxmlformats.org/officeDocument/2006/relationships/notesSlide" Target="/ppt/notesSlides/notesSlide15.xml" Id="Rf739a694117944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141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900000"/>
            <a:ext cx="1080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200" b="1">
                <a:solidFill>
                  <a:srgbClr val="FFFFFF"/>
                </a:solidFill>
                <a:latin typeface="Calibri"/>
                <a:ea typeface="Calibri"/>
              </a:rPr>
              <a:t>NutriBot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232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0">
                <a:solidFill>
                  <a:srgbClr val="7EB3FF"/>
                </a:solidFill>
                <a:latin typeface="Calibri"/>
                <a:ea typeface="Calibri"/>
              </a:rPr>
              <a:t>Nutrition Agentic AI Application</a:t>
            </a:r>
          </a:p>
        </p:txBody>
      </p:sp>
      <p:sp>
        <p:nvSpPr>
          <p:cNvPr id="100003" name="Tagline"/>
          <p:cNvSpPr txBox="1"/>
          <p:nvPr/>
        </p:nvSpPr>
        <p:spPr>
          <a:xfrm xmlns:a="http://schemas.openxmlformats.org/drawingml/2006/main">
            <a:off x="720000" y="295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A8C8FF"/>
                </a:solidFill>
                <a:latin typeface="Calibri"/>
                <a:ea typeface="Calibri"/>
              </a:rPr>
              <a:t>Powered by IBM Granite LLM  |  watsonx.ai  |  Flask  |  Python</a:t>
            </a:r>
          </a:p>
        </p:txBody>
      </p:sp>
      <p:sp>
        <p:nvSpPr>
          <p:cNvPr id="100004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29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AI Ethics  |  Agentic AI SDLC  |  Responsible AI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4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1141"/>
              </a:solidFill>
            </a:endParaRPr>
          </a:p>
        </p:txBody>
      </p:sp>
      <p:sp>
        <p:nvSpPr>
          <p:cNvPr id="100006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EB3FF"/>
                </a:solidFill>
              </a:rPr>
              <a:t>02</a:t>
            </a:r>
          </a:p>
        </p:txBody>
      </p:sp>
      <p:sp>
        <p:nvSpPr>
          <p:cNvPr id="100007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Problem Statement</a:t>
            </a:r>
          </a:p>
        </p:txBody>
      </p:sp>
      <p:sp>
        <p:nvSpPr>
          <p:cNvPr id="100008" name="Body"/>
          <p:cNvSpPr txBox="1"/>
          <p:nvPr/>
        </p:nvSpPr>
        <p:spPr>
          <a:xfrm xmlns:a="http://schemas.openxmlformats.org/drawingml/2006/main">
            <a:off x="540000" y="648000"/>
            <a:ext cx="11113200" cy="57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1F2328"/>
                </a:solidFill>
                <a:latin typeface="Calibri"/>
                <a:ea typeface="Calibri"/>
              </a:rPr>
              <a:t>The Global Nutrition Challenge</a:t>
            </a:r>
          </a:p>
          <a:p xmlns:a="http://schemas.openxmlformats.org/drawingml/2006/main">
            <a:r>
              <a:rPr lang="en-US" sz="19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1F2328"/>
                </a:solidFill>
                <a:latin typeface="Calibri"/>
                <a:ea typeface="Calibri"/>
              </a:rPr>
              <a:t>Millions of people struggle with:</a:t>
            </a:r>
          </a:p>
          <a:p xmlns:a="http://schemas.openxmlformats.org/drawingml/2006/main">
            <a:r>
              <a:rPr lang="en-US" sz="1900">
                <a:solidFill>
                  <a:srgbClr val="1F2328"/>
                </a:solidFill>
                <a:latin typeface="Calibri"/>
                <a:ea typeface="Calibri"/>
              </a:rPr>
              <a:t>  Poor dietary habits due to lack of personalised guidance</a:t>
            </a:r>
          </a:p>
          <a:p xmlns:a="http://schemas.openxmlformats.org/drawingml/2006/main">
            <a:r>
              <a:rPr lang="en-US" sz="1900">
                <a:solidFill>
                  <a:srgbClr val="1F2328"/>
                </a:solidFill>
                <a:latin typeface="Calibri"/>
                <a:ea typeface="Calibri"/>
              </a:rPr>
              <a:t>  High prevalence of lifestyle diseases — diabetes, hypertension, obesity</a:t>
            </a:r>
          </a:p>
          <a:p xmlns:a="http://schemas.openxmlformats.org/drawingml/2006/main">
            <a:r>
              <a:rPr lang="en-US" sz="1900">
                <a:solidFill>
                  <a:srgbClr val="1F2328"/>
                </a:solidFill>
                <a:latin typeface="Calibri"/>
                <a:ea typeface="Calibri"/>
              </a:rPr>
              <a:t>  Expensive and inaccessible registered dietitian consultations</a:t>
            </a:r>
          </a:p>
          <a:p xmlns:a="http://schemas.openxmlformats.org/drawingml/2006/main">
            <a:r>
              <a:rPr lang="en-US" sz="1900">
                <a:solidFill>
                  <a:srgbClr val="1F2328"/>
                </a:solidFill>
                <a:latin typeface="Calibri"/>
                <a:ea typeface="Calibri"/>
              </a:rPr>
              <a:t>  One-size-fits-all nutrition advice that ignores medical history and culture</a:t>
            </a:r>
          </a:p>
          <a:p xmlns:a="http://schemas.openxmlformats.org/drawingml/2006/main">
            <a:r>
              <a:rPr lang="en-US" sz="1900">
                <a:solidFill>
                  <a:srgbClr val="1F2328"/>
                </a:solidFill>
                <a:latin typeface="Calibri"/>
                <a:ea typeface="Calibri"/>
              </a:rPr>
              <a:t>  Difficulty managing chronic conditions through diet</a:t>
            </a:r>
          </a:p>
          <a:p xmlns:a="http://schemas.openxmlformats.org/drawingml/2006/main">
            <a:r>
              <a:rPr lang="en-US" sz="19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1F2328"/>
                </a:solidFill>
                <a:latin typeface="Calibri"/>
                <a:ea typeface="Calibri"/>
              </a:rPr>
              <a:t>The Opportunity:</a:t>
            </a:r>
          </a:p>
          <a:p xmlns:a="http://schemas.openxmlformats.org/drawingml/2006/main">
            <a:r>
              <a:rPr lang="en-US" sz="1900">
                <a:solidFill>
                  <a:srgbClr val="1F2328"/>
                </a:solidFill>
                <a:latin typeface="Calibri"/>
                <a:ea typeface="Calibri"/>
              </a:rPr>
              <a:t>Leverage IBM Granite Large Language Models to democratise access to personalised, safe, and evidence-based nutrition guidance — at scale, in real time.</a:t>
            </a:r>
          </a:p>
        </p:txBody>
      </p:sp>
      <p:sp>
        <p:nvSpPr>
          <p:cNvPr id="100009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0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4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1141"/>
              </a:solidFill>
            </a:endParaRPr>
          </a:p>
        </p:txBody>
      </p:sp>
      <p:sp>
        <p:nvSpPr>
          <p:cNvPr id="100011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EB3FF"/>
                </a:solidFill>
              </a:rPr>
              <a:t>03</a:t>
            </a:r>
          </a:p>
        </p:txBody>
      </p:sp>
      <p:sp>
        <p:nvSpPr>
          <p:cNvPr id="100012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Project Overview</a:t>
            </a:r>
          </a:p>
        </p:txBody>
      </p:sp>
      <p:sp>
        <p:nvSpPr>
          <p:cNvPr id="100013" name="Body"/>
          <p:cNvSpPr txBox="1"/>
          <p:nvPr/>
        </p:nvSpPr>
        <p:spPr>
          <a:xfrm xmlns:a="http://schemas.openxmlformats.org/drawingml/2006/main">
            <a:off x="540000" y="648000"/>
            <a:ext cx="11113200" cy="57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>NutriBot — What It Does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>NutriBot is a web-based Agentic AI application that: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>  Collects user profile — name, age, gender, diet preference (veg/non-veg), medical history (diabetes, blood pressure, etc.), location (city, country), allergies, activity level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>  Generates a fully personalised 7-day nutrition plan using IBM Granite LLM (ibm/granite-13b-instruct-v2)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>  Applies ethical AI guardrails to prevent harmful advice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>  Answers nutrition queries via an intelligent chat interface (Agentic Q&amp;A)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>  Exports every plan as a Markdown (.md) file with a mandatory medical disclaimer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>  Runs locally via a Windows .bat launcher — no technical expertise needed</a:t>
            </a:r>
          </a:p>
        </p:txBody>
      </p:sp>
      <p:sp>
        <p:nvSpPr>
          <p:cNvPr id="100014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1141"/>
        </a:solidFill>
      </p:bgPr>
    </p:bg>
    <p:spTree>
      <p:nvGrpSpPr>
        <p:cNvPr id="1" name=""/>
        <p:cNvGrpSpPr/>
        <p:nvPr/>
      </p:nvGrpSpPr>
      <p:grpSpPr/>
      <p:sp>
        <p:nvSpPr>
          <p:cNvPr id="100015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  <p:sp>
        <p:nvSpPr>
          <p:cNvPr id="100016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0017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IBM Granite LLM Integration</a:t>
            </a:r>
          </a:p>
        </p:txBody>
      </p:sp>
      <p:sp>
        <p:nvSpPr>
          <p:cNvPr id="100018" name="Body"/>
          <p:cNvSpPr txBox="1"/>
          <p:nvPr/>
        </p:nvSpPr>
        <p:spPr>
          <a:xfrm xmlns:a="http://schemas.openxmlformats.org/drawingml/2006/main">
            <a:off x="540000" y="648000"/>
            <a:ext cx="11113200" cy="55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IBM Granite LLM — The AI Brain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Model Used:  ibm/granite-13b-instruct-v2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Platform:     IBM watsonx.ai (us-south.ml.cloud.ibm.com)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Auth:          IAM Token Exchange (IBM Cloud API Key)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How NutriBot Uses IBM Granite: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  1. User profile is structured into a detailed prompt with 12 parameters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  2. IBM Granite generates a comprehensive personalised nutrition plan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  3. Response includes 7-day meals, calories, macros, hydration, lifestyle tips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  4. Chat Q&amp;A uses Granite with user profile as context for relevant answers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  5. All prompts include ethical constraints — no harmful advice, no medical claims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Demo Mode: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  Application runs with pre-built rich responses when API keys are not configured,</a:t>
            </a:r>
          </a:p>
          <a:p xmlns:a="http://schemas.openxmlformats.org/drawingml/2006/main">
            <a:r>
              <a:rPr lang="en-US" sz="1800" b="0">
                <a:solidFill>
                  <a:srgbClr val="E8F0FF"/>
                </a:solidFill>
                <a:latin typeface="Calibri"/>
                <a:ea typeface="Calibri"/>
              </a:rPr>
              <a:t>  enabling full demonstration without IBM Cloud credentials</a:t>
            </a:r>
          </a:p>
        </p:txBody>
      </p:sp>
      <p:sp>
        <p:nvSpPr>
          <p:cNvPr id="100019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29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6929C4"/>
              </a:solidFill>
            </a:endParaRP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0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4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1141"/>
              </a:solidFill>
            </a:endParaRPr>
          </a:p>
        </p:txBody>
      </p:sp>
      <p:sp>
        <p:nvSpPr>
          <p:cNvPr id="100021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EB3FF"/>
                </a:solidFill>
              </a:rPr>
              <a:t>05</a:t>
            </a:r>
          </a:p>
        </p:txBody>
      </p:sp>
      <p:sp>
        <p:nvSpPr>
          <p:cNvPr id="100022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Agentic AI SDLC Phases</a:t>
            </a:r>
          </a:p>
        </p:txBody>
      </p:sp>
      <p:sp>
        <p:nvSpPr>
          <p:cNvPr id="100023" name="Body"/>
          <p:cNvSpPr txBox="1"/>
          <p:nvPr/>
        </p:nvSpPr>
        <p:spPr>
          <a:xfrm xmlns:a="http://schemas.openxmlformats.org/drawingml/2006/main">
            <a:off x="540000" y="648000"/>
            <a:ext cx="11113200" cy="57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Software Development Life Cycle — Agentic AI Approach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Phase 1 — Requirements &amp; Planning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User personas, ethical constraints, IBM Granite model selection, scope definition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Phase 2 — Design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Multi-step UI wireframes, agent pipeline architecture, guardrails design, prompt templates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Phase 3 — Development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Flask backend, IBM Granite client, nutrition agent, guardrails module, responsive frontend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Phase 4 — Testing &amp; Validation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13 automated tests: input validation, harm detection, medical referral, API integration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Phase 5 — Deployment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Local via run.bat, virtual environment, .env credentials management, plans/ directory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Phase 6 — Ethics &amp; Monitoring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Mandatory disclaimer, guardrails enforcement, professional referral triggers, HAM principles</a:t>
            </a:r>
          </a:p>
        </p:txBody>
      </p:sp>
      <p:sp>
        <p:nvSpPr>
          <p:cNvPr id="100024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5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4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1141"/>
              </a:solidFill>
            </a:endParaRPr>
          </a:p>
        </p:txBody>
      </p:sp>
      <p:sp>
        <p:nvSpPr>
          <p:cNvPr id="100026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EB3FF"/>
                </a:solidFill>
              </a:rPr>
              <a:t>06</a:t>
            </a:r>
          </a:p>
        </p:txBody>
      </p:sp>
      <p:sp>
        <p:nvSpPr>
          <p:cNvPr id="100027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Agentic AI Pipeline</a:t>
            </a:r>
          </a:p>
        </p:txBody>
      </p:sp>
      <p:sp>
        <p:nvSpPr>
          <p:cNvPr id="100028" name="Body"/>
          <p:cNvSpPr txBox="1"/>
          <p:nvPr/>
        </p:nvSpPr>
        <p:spPr>
          <a:xfrm xmlns:a="http://schemas.openxmlformats.org/drawingml/2006/main">
            <a:off x="540000" y="648000"/>
            <a:ext cx="11113200" cy="56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Plan  -&gt;  Act  -&gt;  Observe  -&gt;  Reflect  -&gt;  Respond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Step 1 — VALIDATE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Input sanitisation, field validation (age/diet/location), length checks, HTML injection prevention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Step 2 — GUARDRAIL CHECK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Regex-based harmful content detection, medical referral flag for complex conditions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Step 3 — BUILD PROMPT (Plan)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Structured 12-parameter prompt with user profile, ethical constraints, output format instructions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Step 4 — ACT — Call IBM Granite LLM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POST to watsonx.ai REST API with IAM bearer token authentication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Step 5 — OBSERVE — Post-Process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Parse LLM response, prepend metadata header, append mandatory medical disclaimer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Step 6 — REFLECT &amp; RESPOND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alibri"/>
                <a:ea typeface="Calibri"/>
              </a:rPr>
              <a:t>  Save plan as nutrition_plan_[name]_[timestamp].md, return JSON to frontend for rendering</a:t>
            </a:r>
          </a:p>
        </p:txBody>
      </p:sp>
      <p:sp>
        <p:nvSpPr>
          <p:cNvPr id="100029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1141"/>
        </a:solidFill>
      </p:bgPr>
    </p:bg>
    <p:spTree>
      <p:nvGrpSpPr>
        <p:cNvPr id="1" name=""/>
        <p:cNvGrpSpPr/>
        <p:nvPr/>
      </p:nvGrpSpPr>
      <p:grpSpPr/>
      <p:sp>
        <p:nvSpPr>
          <p:cNvPr id="100030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29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6929C4"/>
              </a:solidFill>
            </a:endParaRPr>
          </a:p>
        </p:txBody>
      </p:sp>
      <p:sp>
        <p:nvSpPr>
          <p:cNvPr id="100031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00032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Ethical AI &amp; Guardrails</a:t>
            </a:r>
          </a:p>
        </p:txBody>
      </p:sp>
      <p:sp>
        <p:nvSpPr>
          <p:cNvPr id="100033" name="Body"/>
          <p:cNvSpPr txBox="1"/>
          <p:nvPr/>
        </p:nvSpPr>
        <p:spPr>
          <a:xfrm xmlns:a="http://schemas.openxmlformats.org/drawingml/2006/main">
            <a:off x="540000" y="648000"/>
            <a:ext cx="11113200" cy="55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IBM AI Ethics Principles — Implementation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HAM Principles Applied: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  Helpful:   Actionable meal plans with portion sizes, recipes, lifestyle tips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  Accurate:  Evidence-based dietary science — no pseudoscience or unsubstantiated claims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  Mindful:   Non-judgmental, culturally sensitive (location-aware food suggestions), inclusive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Guardrails — What NutriBot Blocks: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  Dangerous fasting or starvation language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  Extreme calorie restriction (&lt; 500 kcal prompts)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  Supplement or medication abuse patterns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  Self-harm or eating disorder promotion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  Minimum calorie guardrail — never suggests &lt; 1200 kcal/day for adults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Medical Referral Triggers (14 conditions):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  Cancer, Chemotherapy, Kidney Failure, Liver Failure, Eating Disorders,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  Anorexia, Bulimia, Dialysis, Transplant, PKU, End-Stage Disease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Transparency:</a:t>
            </a:r>
          </a:p>
          <a:p xmlns:a="http://schemas.openxmlformats.org/drawingml/2006/main">
            <a:r>
              <a:rPr lang="en-US" sz="1600" b="0">
                <a:solidFill>
                  <a:srgbClr val="E8F0FF"/>
                </a:solidFill>
                <a:latin typeface="Calibri"/>
                <a:ea typeface="Calibri"/>
              </a:rPr>
              <a:t>  Always identifies as AI, Demo Mode labelled, model info in every plan header</a:t>
            </a:r>
          </a:p>
        </p:txBody>
      </p:sp>
      <p:sp>
        <p:nvSpPr>
          <p:cNvPr id="100034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5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4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1141"/>
              </a:solidFill>
            </a:endParaRPr>
          </a:p>
        </p:txBody>
      </p:sp>
      <p:sp>
        <p:nvSpPr>
          <p:cNvPr id="100036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EB3FF"/>
                </a:solidFill>
              </a:rPr>
              <a:t>08</a:t>
            </a:r>
          </a:p>
        </p:txBody>
      </p:sp>
      <p:sp>
        <p:nvSpPr>
          <p:cNvPr id="100037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</a:p>
        </p:txBody>
      </p:sp>
      <p:sp>
        <p:nvSpPr>
          <p:cNvPr id="100038" name="Body"/>
          <p:cNvSpPr txBox="1"/>
          <p:nvPr/>
        </p:nvSpPr>
        <p:spPr>
          <a:xfrm xmlns:a="http://schemas.openxmlformats.org/drawingml/2006/main">
            <a:off x="540000" y="648000"/>
            <a:ext cx="11113200" cy="56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3-Tier Web Architecture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[ USER BROWSER — Single Page Application ]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Multi-step form (3 steps)  +  Markdown plan viewer  +  Real-time chat UI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HTML5 / CSS3 / Vanilla JavaScript  |  Marked.js for Markdown rendering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         |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         v  HTTP / REST JSON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[ FLASK BACKEND — Python 3.12 ]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POST /api/generate-plan    -&gt;  Nutrition Agent Pipeline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POST /api/query            -&gt;  Chat Agent Pipeline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GET  /api/download-plan    -&gt;  Secure .md file download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GET  /api/health           -&gt;  Health check endpoint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         |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         v  REST API + IAM Token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[ IBM watsonx.ai CLOUD ]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Model: ibm/granite-13b-instruct-v2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Region: us-south.ml.cloud.ibm.com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Auth: IBM Cloud IAM (API Key -&gt; Bearer Token)</a:t>
            </a:r>
          </a:p>
        </p:txBody>
      </p:sp>
      <p:sp>
        <p:nvSpPr>
          <p:cNvPr id="100039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0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4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1141"/>
              </a:solidFill>
            </a:endParaRPr>
          </a:p>
        </p:txBody>
      </p:sp>
      <p:sp>
        <p:nvSpPr>
          <p:cNvPr id="100041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EB3FF"/>
                </a:solidFill>
              </a:rPr>
              <a:t>09</a:t>
            </a:r>
          </a:p>
        </p:txBody>
      </p:sp>
      <p:sp>
        <p:nvSpPr>
          <p:cNvPr id="100042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Project Structure</a:t>
            </a:r>
          </a:p>
        </p:txBody>
      </p:sp>
      <p:sp>
        <p:nvSpPr>
          <p:cNvPr id="100043" name="Body"/>
          <p:cNvSpPr txBox="1"/>
          <p:nvPr/>
        </p:nvSpPr>
        <p:spPr>
          <a:xfrm xmlns:a="http://schemas.openxmlformats.org/drawingml/2006/main">
            <a:off x="540000" y="648000"/>
            <a:ext cx="11113200" cy="56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nutrition-agent/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|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+-- app.py                    Flask web application and REST API endpoints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+-- requirements.txt          Python dependencies (flask, requests, dotenv, markdown)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+-- .env.example              IBM watsonx.ai credentials template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+-- run.bat                   Windows one-click launcher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+-- install.bat               Dependencies-only installer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+-- README.md                 Full documentation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+-- LICENSE                   MIT License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|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+-- agents/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|   +-- nutrition_agent.py    Core agentic pipeline and IBM Granite prompt engineering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|   +-- granite_client.py     IBM Granite LLM REST API client with demo fallback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|   +-- guardrails.py         Ethical AI: harm detection, validation, medical referral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|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+-- templates/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|   +-- index.html            Single-page web application (3-step form + chat)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|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+-- static/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|   +-- css/style.css         IBM Design System inspired responsive stylesheet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|   +-- js/app.js             Client-side form logic, plan rendering, chat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|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+-- plans/                    Auto-saved nutrition_plan_[name]_[timestamp].md files</a:t>
            </a:r>
          </a:p>
        </p:txBody>
      </p:sp>
      <p:sp>
        <p:nvSpPr>
          <p:cNvPr id="100044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5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4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1141"/>
              </a:solidFill>
            </a:endParaRPr>
          </a:p>
        </p:txBody>
      </p:sp>
      <p:sp>
        <p:nvSpPr>
          <p:cNvPr id="100046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EB3FF"/>
                </a:solidFill>
              </a:rPr>
              <a:t>10</a:t>
            </a:r>
          </a:p>
        </p:txBody>
      </p:sp>
      <p:sp>
        <p:nvSpPr>
          <p:cNvPr id="100047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Key Features</a:t>
            </a:r>
          </a:p>
        </p:txBody>
      </p:sp>
      <p:sp>
        <p:nvSpPr>
          <p:cNvPr id="100048" name="Body"/>
          <p:cNvSpPr txBox="1"/>
          <p:nvPr/>
        </p:nvSpPr>
        <p:spPr>
          <a:xfrm xmlns:a="http://schemas.openxmlformats.org/drawingml/2006/main">
            <a:off x="540000" y="648000"/>
            <a:ext cx="11113200" cy="56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Feature Highlights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IBM Granite LLM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ibm/granite-13b-instruct-v2 via watsonx.ai. IAM token authentication. Demo mode fallback.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Personalised Nutrition Plans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7-day meal plan with breakfast, snacks, lunch, dinner. Calorie estimates and macronutrient breakdown. Hydration guide. Culturally sensitive food suggestions by location.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Multi-Step User Profile Collection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Step 1: Personal info (name, age, gender, location, diet preference)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Step 2: Health details (medical conditions, allergies, weight, height, activity level)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Step 3: Health goals (weight loss, manage diabetes, boost immunity, etc.)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Agentic Q&amp;A Chat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Context-aware chat powered by IBM Granite. User profile passed as context. Quick-question shortcuts. Typing indicator.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Export to Markdown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Auto-saved as nutrition_plan_[name]_[timestamp].md. Medical disclaimer appended. Download button in UI.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Responsive Web UI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IBM Design System inspired. Mobile-friendly. Progress indicator. Step navigation. Error validation.</a:t>
            </a:r>
          </a:p>
        </p:txBody>
      </p:sp>
      <p:sp>
        <p:nvSpPr>
          <p:cNvPr id="100049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1141"/>
        </a:solidFill>
      </p:bgPr>
    </p:bg>
    <p:spTree>
      <p:nvGrpSpPr>
        <p:cNvPr id="1" name=""/>
        <p:cNvGrpSpPr/>
        <p:nvPr/>
      </p:nvGrpSpPr>
      <p:grpSpPr/>
      <p:sp>
        <p:nvSpPr>
          <p:cNvPr id="100050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  <p:sp>
        <p:nvSpPr>
          <p:cNvPr id="100051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00052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Technology Stack</a:t>
            </a:r>
          </a:p>
        </p:txBody>
      </p:sp>
      <p:sp>
        <p:nvSpPr>
          <p:cNvPr id="100053" name="Body"/>
          <p:cNvSpPr txBox="1"/>
          <p:nvPr/>
        </p:nvSpPr>
        <p:spPr>
          <a:xfrm xmlns:a="http://schemas.openxmlformats.org/drawingml/2006/main">
            <a:off x="540000" y="648000"/>
            <a:ext cx="11113200" cy="55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Technology Stack Overview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AI / LLM Layer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IBM Granite 13B Instruct v2         Large Language Model for plan generation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IBM watsonx.ai REST API             Model inference endpoint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IBM Cloud IAM                        Authentication and authorisation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Backend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Python 3.12                          Core language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Flask 3.0.3                          Web framework and REST API server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Flask-CORS 4.0.1                     Cross-origin resource sharing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Requests 2.31.0                     HTTP client for IBM API calls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Python-dotenv 1.0.1                 Environment variable management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Markdown 3.6                         Plan text processing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Frontend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HTML5 / CSS3 / JavaScript           Single-page application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Marked.js                            Markdown to HTML rendering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IBM Design System (inspired)        Visual design language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DevOps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Git 2.55                             Version control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GitHub                               Repository hosting (IshantKheni56/IBM-projects)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Windows .bat                         Local deployment launcher</a:t>
            </a:r>
          </a:p>
        </p:txBody>
      </p:sp>
      <p:sp>
        <p:nvSpPr>
          <p:cNvPr id="100054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29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6929C4"/>
              </a:solidFill>
            </a:endParaRP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5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4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1141"/>
              </a:solidFill>
            </a:endParaRPr>
          </a:p>
        </p:txBody>
      </p:sp>
      <p:sp>
        <p:nvSpPr>
          <p:cNvPr id="100056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EB3FF"/>
                </a:solidFill>
              </a:rPr>
              <a:t>12</a:t>
            </a:r>
          </a:p>
        </p:txBody>
      </p:sp>
      <p:sp>
        <p:nvSpPr>
          <p:cNvPr id="100057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Testing &amp; Validation</a:t>
            </a:r>
          </a:p>
        </p:txBody>
      </p:sp>
      <p:sp>
        <p:nvSpPr>
          <p:cNvPr id="100058" name="Body"/>
          <p:cNvSpPr txBox="1"/>
          <p:nvPr/>
        </p:nvSpPr>
        <p:spPr>
          <a:xfrm xmlns:a="http://schemas.openxmlformats.org/drawingml/2006/main">
            <a:off x="540000" y="648000"/>
            <a:ext cx="11113200" cy="56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13 / 13 Tests Passing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Unit Tests — Guardrails Module (7 tests)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1:  Valid user profile passes validation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2:  Invalid age (999) is rejected with error message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3:  Harmful content ('how to overdose') is blocked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4:  Safe nutrition query passes guardrail check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5:  Cancer + chemotherapy triggers mandatory professional referral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6:  Diabetes + blood pressure is handled (supported condition, no referral block)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7:  Medical disclaimer text is present and complete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Integration Tests — Flask API (6 tests)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1:  GET /api/health returns 200 with correct service metadata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2:  GET / serves index.html with NutriBot content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3:  POST /api/generate-plan returns plan, filename, timestamp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4:  POST /api/generate-plan with invalid data returns 422 with error list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5:  POST /api/query with harmful question is blocked (success: false)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Test 6:  POST /api/query with valid question returns answer (success: true)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All tests executed with Flask test client — no external services required</a:t>
            </a:r>
          </a:p>
        </p:txBody>
      </p:sp>
      <p:sp>
        <p:nvSpPr>
          <p:cNvPr id="100059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0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4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1141"/>
              </a:solidFill>
            </a:endParaRPr>
          </a:p>
        </p:txBody>
      </p:sp>
      <p:sp>
        <p:nvSpPr>
          <p:cNvPr id="100061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EB3FF"/>
                </a:solidFill>
              </a:rPr>
              <a:t>13</a:t>
            </a:r>
          </a:p>
        </p:txBody>
      </p:sp>
      <p:sp>
        <p:nvSpPr>
          <p:cNvPr id="100062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Deployment Guide</a:t>
            </a:r>
          </a:p>
        </p:txBody>
      </p:sp>
      <p:sp>
        <p:nvSpPr>
          <p:cNvPr id="100063" name="Body"/>
          <p:cNvSpPr txBox="1"/>
          <p:nvPr/>
        </p:nvSpPr>
        <p:spPr>
          <a:xfrm xmlns:a="http://schemas.openxmlformats.org/drawingml/2006/main">
            <a:off x="540000" y="648000"/>
            <a:ext cx="11113200" cy="56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Quick Start — 3 Ways to Run NutriBot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Method 1 — One-Click (Windows)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1. Clone: git clone https://github.com/IshantKheni56/IBM-projects.git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2. Navigate to: IBM-projects/nutrition-agent/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3. Double-click run.bat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4. Browser opens automatically at http://localhost:5000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Method 2 — Manual Setup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python -m venv venv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venv\Scripts\activate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pip install -r requirements.txt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copy .env.example .env   [edit .env with your credentials]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python app.py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Method 3 — IBM Granite Live Mode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1. Create IBM Cloud account at https://cloud.ibm.com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2. Create Watson Machine Learning service (Lite — free)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3. Create watsonx.ai project at https://dataplatform.cloud.ibm.com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4. Get API key at https://cloud.ibm.com/iam/apikeys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5. Add to .env: WATSONX_API_KEY and WATSONX_PROJECT_ID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  6. Run via run.bat — live IBM Granite responses activate automatically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Note: Without credentials, Demo Mode provides full rich pre-built plans</a:t>
            </a:r>
          </a:p>
        </p:txBody>
      </p:sp>
      <p:sp>
        <p:nvSpPr>
          <p:cNvPr id="100064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1141"/>
        </a:solidFill>
      </p:bgPr>
    </p:bg>
    <p:spTree>
      <p:nvGrpSpPr>
        <p:cNvPr id="1" name=""/>
        <p:cNvGrpSpPr/>
        <p:nvPr/>
      </p:nvGrpSpPr>
      <p:grpSpPr/>
      <p:sp>
        <p:nvSpPr>
          <p:cNvPr id="100065" name="Header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  <p:sp>
        <p:nvSpPr>
          <p:cNvPr id="100066" name="SlideNum"/>
          <p:cNvSpPr txBox="1"/>
          <p:nvPr/>
        </p:nvSpPr>
        <p:spPr>
          <a:xfrm xmlns:a="http://schemas.openxmlformats.org/drawingml/2006/main">
            <a:off x="10800000" y="36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00067" name="SlideTitle"/>
          <p:cNvSpPr txBox="1"/>
          <p:nvPr/>
        </p:nvSpPr>
        <p:spPr>
          <a:xfrm xmlns:a="http://schemas.openxmlformats.org/drawingml/2006/main">
            <a:off x="540000" y="36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Medical Disclaimer &amp; Responsible AI</a:t>
            </a:r>
          </a:p>
        </p:txBody>
      </p:sp>
      <p:sp>
        <p:nvSpPr>
          <p:cNvPr id="100068" name="Body"/>
          <p:cNvSpPr txBox="1"/>
          <p:nvPr/>
        </p:nvSpPr>
        <p:spPr>
          <a:xfrm xmlns:a="http://schemas.openxmlformats.org/drawingml/2006/main">
            <a:off x="540000" y="648000"/>
            <a:ext cx="11113200" cy="55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Medical Disclaimer — Appended to Every Generated Plan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IMPORTANT: This nutrition plan is generated by an AI system (IBM Granite LLM) for informational and educational purposes only. It does NOT constitute medical advice, diagnosis, or treatment.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Please note: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Always consult a registered dietitian (RD), nutritionist, or licensed physician before making significant dietary changes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If you have a medical condition (diabetes, hypertension, heart disease, etc.), your healthcare provider should review and approve any nutrition plan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Individual nutritional needs vary based on genetics, metabolism, medications, and other factors not captured in this assessment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This AI cannot replace personalised professional medical guidance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In case of a medical emergency, contact your local emergency services immediately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Responsible AI Commitments: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No disease-cure claims — only supportive dietary guidance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No extreme diet promotion — evidence-based recommendations only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Privacy: No user data stored externally, plans saved locally only</a:t>
            </a:r>
          </a:p>
          <a:p xmlns:a="http://schemas.openxmlformats.org/drawingml/2006/main">
            <a:r>
              <a:rPr lang="en-US" sz="1500" b="0">
                <a:solidFill>
                  <a:srgbClr val="E8F0FF"/>
                </a:solidFill>
                <a:latin typeface="Calibri"/>
                <a:ea typeface="Calibri"/>
              </a:rPr>
              <a:t>  Transparency: Every plan header shows AI source and generation timestamp</a:t>
            </a:r>
          </a:p>
        </p:txBody>
      </p:sp>
      <p:sp>
        <p:nvSpPr>
          <p:cNvPr id="100069" name="Accent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29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6929C4"/>
              </a:solidFill>
            </a:endParaRP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1141"/>
        </a:solidFill>
      </p:bgPr>
    </p:bg>
    <p:spTree>
      <p:nvGrpSpPr>
        <p:cNvPr id="1" name=""/>
        <p:cNvGrpSpPr/>
        <p:nvPr/>
      </p:nvGrpSpPr>
      <p:grpSpPr/>
      <p:sp>
        <p:nvSpPr>
          <p:cNvPr id="100070" name="TopBar"/>
          <p:cNvSpPr txBox="1"/>
          <p:nvPr/>
        </p:nvSpPr>
        <p:spPr>
          <a:xfrm xmlns:a="http://schemas.openxmlformats.org/drawingml/2006/main">
            <a:off x="0" y="0"/>
            <a:ext cx="121932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62FE"/>
              </a:solidFill>
            </a:endParaRPr>
          </a:p>
        </p:txBody>
      </p:sp>
      <p:sp>
        <p:nvSpPr>
          <p:cNvPr id="100071" name="Title"/>
          <p:cNvSpPr txBox="1"/>
          <p:nvPr/>
        </p:nvSpPr>
        <p:spPr>
          <a:xfrm xmlns:a="http://schemas.openxmlformats.org/drawingml/2006/main">
            <a:off x="720000" y="90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6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072" name="Subtitle"/>
          <p:cNvSpPr txBox="1"/>
          <p:nvPr/>
        </p:nvSpPr>
        <p:spPr>
          <a:xfrm xmlns:a="http://schemas.openxmlformats.org/drawingml/2006/main">
            <a:off x="720000" y="208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0">
                <a:solidFill>
                  <a:srgbClr val="7EB3FF"/>
                </a:solidFill>
                <a:latin typeface="Calibri"/>
                <a:ea typeface="Calibri"/>
              </a:rPr>
              <a:t>NutriBot — Nutrition Agentic AI</a:t>
            </a:r>
          </a:p>
        </p:txBody>
      </p:sp>
      <p:sp>
        <p:nvSpPr>
          <p:cNvPr id="100073" name="Links"/>
          <p:cNvSpPr txBox="1"/>
          <p:nvPr/>
        </p:nvSpPr>
        <p:spPr>
          <a:xfrm xmlns:a="http://schemas.openxmlformats.org/drawingml/2006/main">
            <a:off x="720000" y="2808000"/>
            <a:ext cx="1080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A8C8FF"/>
                </a:solidFill>
                <a:latin typeface="Calibri"/>
                <a:ea typeface="Calibri"/>
              </a:rPr>
              <a:t>GitHub Repository:</a:t>
            </a:r>
          </a:p>
          <a:p xmlns:a="http://schemas.openxmlformats.org/drawingml/2006/main">
            <a:r>
              <a:rPr lang="en-US" sz="1800" b="0">
                <a:solidFill>
                  <a:srgbClr val="A8C8FF"/>
                </a:solidFill>
                <a:latin typeface="Calibri"/>
                <a:ea typeface="Calibri"/>
              </a:rPr>
              <a:t>https://github.com/IshantKheni56/IBM-projects</a:t>
            </a:r>
          </a:p>
          <a:p xmlns:a="http://schemas.openxmlformats.org/drawingml/2006/main">
            <a:r>
              <a:rPr lang="en-US" sz="1800" b="0">
                <a:solidFill>
                  <a:srgbClr val="A8C8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A8C8FF"/>
                </a:solidFill>
                <a:latin typeface="Calibri"/>
                <a:ea typeface="Calibri"/>
              </a:rPr>
              <a:t>Application URL (local):</a:t>
            </a:r>
          </a:p>
          <a:p xmlns:a="http://schemas.openxmlformats.org/drawingml/2006/main">
            <a:r>
              <a:rPr lang="en-US" sz="1800" b="0">
                <a:solidFill>
                  <a:srgbClr val="A8C8FF"/>
                </a:solidFill>
                <a:latin typeface="Calibri"/>
                <a:ea typeface="Calibri"/>
              </a:rPr>
              <a:t>http://localhost:5000</a:t>
            </a:r>
          </a:p>
          <a:p xmlns:a="http://schemas.openxmlformats.org/drawingml/2006/main">
            <a:r>
              <a:rPr lang="en-US" sz="1800" b="0">
                <a:solidFill>
                  <a:srgbClr val="A8C8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A8C8FF"/>
                </a:solidFill>
                <a:latin typeface="Calibri"/>
                <a:ea typeface="Calibri"/>
              </a:rPr>
              <a:t>IBM Granite LLM | watsonx.ai | Flask | Python 3.12</a:t>
            </a:r>
          </a:p>
          <a:p xmlns:a="http://schemas.openxmlformats.org/drawingml/2006/main">
            <a:r>
              <a:rPr lang="en-US" sz="1800" b="0">
                <a:solidFill>
                  <a:srgbClr val="A8C8FF"/>
                </a:solidFill>
                <a:latin typeface="Calibri"/>
                <a:ea typeface="Calibri"/>
              </a:rPr>
              <a:t>IBM AI Ethics | Agentic AI SDLC | 13/13 Tests Passing</a:t>
            </a:r>
          </a:p>
        </p:txBody>
      </p:sp>
      <p:sp>
        <p:nvSpPr>
          <p:cNvPr id="100074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29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Slide 15 of 15  |  NutriBot Nutrition Agentic AI  |  IBM Granite LLM  |  watsonx.ai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2026-10-13T09:11:40Z</dcterms:created>
  <cp:lastModifiedBy>OfficeCLI</cp:lastModifiedBy>
  <dcterms:modified xsi:type="dcterms:W3CDTF">2026-10-13T09:11:40Z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2026-10-13T09:11:41Z</vt:lpwstr>
  </op:property>
</op:Properties>
</file>